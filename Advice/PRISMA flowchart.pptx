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63CE-7A0B-43AB-ABB6-0801CB3C04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A6-26AC-429A-9DDC-75257DD6D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827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63CE-7A0B-43AB-ABB6-0801CB3C04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A6-26AC-429A-9DDC-75257DD6D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54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63CE-7A0B-43AB-ABB6-0801CB3C04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A6-26AC-429A-9DDC-75257DD6D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14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63CE-7A0B-43AB-ABB6-0801CB3C04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A6-26AC-429A-9DDC-75257DD6D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872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63CE-7A0B-43AB-ABB6-0801CB3C04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A6-26AC-429A-9DDC-75257DD6D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758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63CE-7A0B-43AB-ABB6-0801CB3C04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A6-26AC-429A-9DDC-75257DD6D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465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63CE-7A0B-43AB-ABB6-0801CB3C04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A6-26AC-429A-9DDC-75257DD6D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27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63CE-7A0B-43AB-ABB6-0801CB3C04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A6-26AC-429A-9DDC-75257DD6D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93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63CE-7A0B-43AB-ABB6-0801CB3C04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A6-26AC-429A-9DDC-75257DD6D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37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63CE-7A0B-43AB-ABB6-0801CB3C04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A6-26AC-429A-9DDC-75257DD6D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944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63CE-7A0B-43AB-ABB6-0801CB3C04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D3BA6-26AC-429A-9DDC-75257DD6D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88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763CE-7A0B-43AB-ABB6-0801CB3C04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D3BA6-26AC-429A-9DDC-75257DD6D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735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 rot="16200000">
            <a:off x="-135890" y="905510"/>
            <a:ext cx="1224915" cy="3600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 rot="16200000">
            <a:off x="-297814" y="2508885"/>
            <a:ext cx="1548130" cy="3600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Screening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 rot="16200000">
            <a:off x="-490220" y="4453255"/>
            <a:ext cx="1933575" cy="3600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Eligibility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 rot="16200000">
            <a:off x="60325" y="6052820"/>
            <a:ext cx="831850" cy="3600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Included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67105" y="473075"/>
            <a:ext cx="2940050" cy="1219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en-AU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- Search databases (n=9,021)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  <a:p>
            <a:pPr marL="0" indent="0">
              <a:buFontTx/>
              <a:buNone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Medline</a:t>
            </a:r>
            <a:r>
              <a:rPr lang="ko-KR" altLang="en-US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and</a:t>
            </a:r>
            <a:r>
              <a:rPr lang="ko-KR" altLang="en-US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 </a:t>
            </a:r>
            <a:r>
              <a:rPr lang="en-AU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EMBASE (n =</a:t>
            </a: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1,613</a:t>
            </a:r>
            <a:r>
              <a:rPr lang="en-AU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)</a:t>
            </a: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,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  <a:p>
            <a:pPr marL="0" indent="0">
              <a:buFontTx/>
              <a:buNone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Scopus (n=4,261)</a:t>
            </a:r>
            <a:r>
              <a:rPr lang="ko-KR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,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  <a:p>
            <a:pPr marL="0" indent="0">
              <a:buFontTx/>
              <a:buNone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Web of Science (n=2,395)</a:t>
            </a:r>
          </a:p>
          <a:p>
            <a:pPr marL="0" indent="0">
              <a:buFontTx/>
              <a:buNone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ScienceDirect</a:t>
            </a:r>
            <a:r>
              <a:rPr lang="ko-KR" altLang="en-US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(n=752)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cxnSp>
        <p:nvCxnSpPr>
          <p:cNvPr id="12" name="직선 화살표 연결선 11"/>
          <p:cNvCxnSpPr>
            <a:cxnSpLocks/>
            <a:stCxn id="9" idx="2"/>
            <a:endCxn id="5" idx="0"/>
          </p:cNvCxnSpPr>
          <p:nvPr/>
        </p:nvCxnSpPr>
        <p:spPr>
          <a:xfrm flipH="1">
            <a:off x="2436495" y="1691640"/>
            <a:ext cx="0" cy="2336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685030" y="461645"/>
            <a:ext cx="2680335" cy="12312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en-AU" altLang="ko-KR" sz="1200">
                <a:solidFill>
                  <a:srgbClr val="000000"/>
                </a:solidFill>
                <a:latin typeface="Times New Roman" charset="0"/>
                <a:ea typeface="맑은 고딕" charset="0"/>
                <a:cs typeface="Times New Roman" charset="0"/>
              </a:rPr>
              <a:t>Records removed before screening:</a:t>
            </a:r>
            <a:endParaRPr lang="ko-KR" altLang="en-US" sz="1200">
              <a:solidFill>
                <a:srgbClr val="000000"/>
              </a:solidFill>
              <a:latin typeface="Times New Roman" charset="0"/>
              <a:ea typeface="맑은 고딕" charset="0"/>
              <a:cs typeface="Times New Roman" charset="0"/>
            </a:endParaRPr>
          </a:p>
          <a:p>
            <a:pPr marL="0" indent="0"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charset="0"/>
                <a:ea typeface="맑은 고딕" charset="0"/>
                <a:cs typeface="Times New Roman" charset="0"/>
              </a:rPr>
              <a:t>Duplicate records removed by automation tool (n=5,969)</a:t>
            </a:r>
            <a:endParaRPr lang="ko-KR" altLang="en-US" sz="1200">
              <a:solidFill>
                <a:srgbClr val="000000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sp>
        <p:nvSpPr>
          <p:cNvPr id="2" name="Flowchart: Alternate Process 29">
            <a:extLst>
              <a:ext uri="{FF2B5EF4-FFF2-40B4-BE49-F238E27FC236}">
                <a16:creationId xmlns:a16="http://schemas.microsoft.com/office/drawing/2014/main" id="{1307BA76-157C-F6D2-7125-E47CC714E807}"/>
              </a:ext>
            </a:extLst>
          </p:cNvPr>
          <p:cNvSpPr/>
          <p:nvPr/>
        </p:nvSpPr>
        <p:spPr>
          <a:xfrm>
            <a:off x="944880" y="120650"/>
            <a:ext cx="6421120" cy="262890"/>
          </a:xfrm>
          <a:prstGeom prst="flowChartAlternate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AU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Identification of studies via databases and registers</a:t>
            </a:r>
            <a:endParaRPr lang="ko-KR" sz="1200" dirty="0">
              <a:effectLst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22A0DA0-3673-4CBE-656B-D7EBF115C330}"/>
              </a:ext>
            </a:extLst>
          </p:cNvPr>
          <p:cNvCxnSpPr>
            <a:cxnSpLocks/>
          </p:cNvCxnSpPr>
          <p:nvPr/>
        </p:nvCxnSpPr>
        <p:spPr>
          <a:xfrm>
            <a:off x="3901440" y="1089802"/>
            <a:ext cx="7899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Alternate Process 30">
            <a:extLst>
              <a:ext uri="{FF2B5EF4-FFF2-40B4-BE49-F238E27FC236}">
                <a16:creationId xmlns:a16="http://schemas.microsoft.com/office/drawing/2014/main" id="{A65C6304-1695-F40D-CEEF-0648A07EE62C}"/>
              </a:ext>
            </a:extLst>
          </p:cNvPr>
          <p:cNvSpPr/>
          <p:nvPr/>
        </p:nvSpPr>
        <p:spPr>
          <a:xfrm>
            <a:off x="7550785" y="127000"/>
            <a:ext cx="4506595" cy="262890"/>
          </a:xfrm>
          <a:prstGeom prst="flowChartAlternate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AU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Identification of studies via other methods</a:t>
            </a:r>
            <a:endParaRPr lang="ko-KR" sz="1200" dirty="0">
              <a:effectLst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C638F86-75E6-4830-A3C6-060C0A4207B6}"/>
              </a:ext>
            </a:extLst>
          </p:cNvPr>
          <p:cNvSpPr/>
          <p:nvPr/>
        </p:nvSpPr>
        <p:spPr>
          <a:xfrm>
            <a:off x="7545070" y="461645"/>
            <a:ext cx="2166620" cy="123761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lnSpc>
                <a:spcPct val="107000"/>
              </a:lnSpc>
              <a:buFontTx/>
              <a:buNone/>
            </a:pPr>
            <a:r>
              <a:rPr lang="en-AU" altLang="ko-KR" sz="1200">
                <a:solidFill>
                  <a:srgbClr val="000000"/>
                </a:solidFill>
                <a:latin typeface="Times New Roman" charset="0"/>
                <a:ea typeface="맑은 고딕" charset="0"/>
                <a:cs typeface="Times New Roman" charset="0"/>
              </a:rPr>
              <a:t>Records identified from:</a:t>
            </a:r>
            <a:endParaRPr lang="ko-KR" altLang="en-US" sz="1200">
              <a:solidFill>
                <a:srgbClr val="000000"/>
              </a:solidFill>
              <a:latin typeface="Times New Roman" charset="0"/>
              <a:ea typeface="맑은 고딕" charset="0"/>
              <a:cs typeface="Times New Roman" charset="0"/>
            </a:endParaRPr>
          </a:p>
          <a:p>
            <a:pPr marL="0" indent="0">
              <a:lnSpc>
                <a:spcPct val="107000"/>
              </a:lnSpc>
              <a:buFontTx/>
              <a:buNone/>
            </a:pPr>
            <a:r>
              <a:rPr lang="en-AU" altLang="ko-KR" sz="1200">
                <a:solidFill>
                  <a:srgbClr val="000000"/>
                </a:solidFill>
                <a:latin typeface="Times New Roman" charset="0"/>
                <a:ea typeface="맑은 고딕" charset="0"/>
                <a:cs typeface="Times New Roman" charset="0"/>
              </a:rPr>
              <a:t>Grey literature (n=</a:t>
            </a:r>
            <a:r>
              <a:rPr lang="en-US" altLang="ko-KR" sz="1200">
                <a:solidFill>
                  <a:srgbClr val="000000"/>
                </a:solidFill>
                <a:latin typeface="Times New Roman" charset="0"/>
                <a:ea typeface="맑은 고딕" charset="0"/>
                <a:cs typeface="Times New Roman" charset="0"/>
              </a:rPr>
              <a:t>0</a:t>
            </a:r>
            <a:r>
              <a:rPr lang="en-AU" altLang="ko-KR" sz="1200">
                <a:solidFill>
                  <a:srgbClr val="000000"/>
                </a:solidFill>
                <a:latin typeface="Times New Roman" charset="0"/>
                <a:ea typeface="맑은 고딕" charset="0"/>
                <a:cs typeface="Times New Roman" charset="0"/>
              </a:rPr>
              <a:t>)</a:t>
            </a:r>
            <a:endParaRPr lang="ko-KR" altLang="en-US" sz="1200">
              <a:solidFill>
                <a:srgbClr val="000000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cxnSp>
        <p:nvCxnSpPr>
          <p:cNvPr id="28" name="Connector: Elbow 42">
            <a:extLst>
              <a:ext uri="{FF2B5EF4-FFF2-40B4-BE49-F238E27FC236}">
                <a16:creationId xmlns:a16="http://schemas.microsoft.com/office/drawing/2014/main" id="{AA0F076C-3BEC-2F93-E0E4-9B633087582A}"/>
              </a:ext>
            </a:extLst>
          </p:cNvPr>
          <p:cNvCxnSpPr>
            <a:cxnSpLocks/>
            <a:stCxn id="39" idx="2"/>
            <a:endCxn id="19" idx="3"/>
          </p:cNvCxnSpPr>
          <p:nvPr/>
        </p:nvCxnSpPr>
        <p:spPr>
          <a:xfrm rot="5400000">
            <a:off x="5276374" y="2867500"/>
            <a:ext cx="2000251" cy="473741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BF7631-A5C2-9954-7DFF-BE92C380F8CB}"/>
              </a:ext>
            </a:extLst>
          </p:cNvPr>
          <p:cNvSpPr/>
          <p:nvPr/>
        </p:nvSpPr>
        <p:spPr>
          <a:xfrm>
            <a:off x="967105" y="1925320"/>
            <a:ext cx="2940050" cy="8521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- Records screened (n=3,052)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D80440-0A33-029C-C40A-46B773A159F5}"/>
              </a:ext>
            </a:extLst>
          </p:cNvPr>
          <p:cNvSpPr/>
          <p:nvPr/>
        </p:nvSpPr>
        <p:spPr>
          <a:xfrm>
            <a:off x="967105" y="2980690"/>
            <a:ext cx="2940050" cy="4667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- Records assessed based on title and abstract</a:t>
            </a:r>
            <a:r>
              <a:rPr lang="ko-KR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(n=3,052)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F1B894C-0F50-8817-7F77-35B99A69CDB2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2436495" y="2776855"/>
            <a:ext cx="0" cy="2038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6DF608F-7653-A809-735B-5ED2451CCC75}"/>
              </a:ext>
            </a:extLst>
          </p:cNvPr>
          <p:cNvSpPr/>
          <p:nvPr/>
        </p:nvSpPr>
        <p:spPr>
          <a:xfrm>
            <a:off x="4695825" y="1925320"/>
            <a:ext cx="2680335" cy="152209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- Records excluded (n = 3,011):</a:t>
            </a:r>
          </a:p>
          <a:p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Not relevant to the research question/topic (n = 1,840)</a:t>
            </a:r>
          </a:p>
          <a:p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Not a systematic review or meta-analysis (n = 869)</a:t>
            </a:r>
          </a:p>
          <a:p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Editorials, commentaries, letters, or conference abstracts (n = 302)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7AF1514-24BC-4792-B018-AD4F915EAF93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8628380" y="1699260"/>
            <a:ext cx="0" cy="12401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928F778-7FEB-48A4-3E53-50AB8BA9B410}"/>
              </a:ext>
            </a:extLst>
          </p:cNvPr>
          <p:cNvSpPr/>
          <p:nvPr/>
        </p:nvSpPr>
        <p:spPr>
          <a:xfrm>
            <a:off x="7545070" y="2939412"/>
            <a:ext cx="2166620" cy="501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- Reports retrieval (n=0)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88740DF-C5C3-B4CD-8D5F-270516B853FD}"/>
              </a:ext>
            </a:extLst>
          </p:cNvPr>
          <p:cNvCxnSpPr>
            <a:cxnSpLocks/>
          </p:cNvCxnSpPr>
          <p:nvPr/>
        </p:nvCxnSpPr>
        <p:spPr>
          <a:xfrm>
            <a:off x="3905885" y="3217545"/>
            <a:ext cx="7899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A14FAC0-9869-653E-A721-F3FBF4988860}"/>
              </a:ext>
            </a:extLst>
          </p:cNvPr>
          <p:cNvCxnSpPr>
            <a:cxnSpLocks/>
          </p:cNvCxnSpPr>
          <p:nvPr/>
        </p:nvCxnSpPr>
        <p:spPr>
          <a:xfrm>
            <a:off x="9711055" y="3169347"/>
            <a:ext cx="7899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1501B41-59AF-DA50-B0ED-D5297ED9515A}"/>
              </a:ext>
            </a:extLst>
          </p:cNvPr>
          <p:cNvSpPr/>
          <p:nvPr/>
        </p:nvSpPr>
        <p:spPr>
          <a:xfrm>
            <a:off x="10494010" y="2939412"/>
            <a:ext cx="1647190" cy="5022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Reports not retrieved</a:t>
            </a:r>
          </a:p>
          <a:p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    (n=0)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558E29B-75A2-502B-3827-11F9849C427A}"/>
              </a:ext>
            </a:extLst>
          </p:cNvPr>
          <p:cNvSpPr/>
          <p:nvPr/>
        </p:nvSpPr>
        <p:spPr>
          <a:xfrm>
            <a:off x="955040" y="3660775"/>
            <a:ext cx="2964180" cy="8883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- Reports assessed for eligibility (n=41)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D1A1A8F-C569-6BE8-9C90-EFBC6CC68C70}"/>
              </a:ext>
            </a:extLst>
          </p:cNvPr>
          <p:cNvCxnSpPr>
            <a:cxnSpLocks/>
          </p:cNvCxnSpPr>
          <p:nvPr/>
        </p:nvCxnSpPr>
        <p:spPr>
          <a:xfrm>
            <a:off x="3930650" y="4095546"/>
            <a:ext cx="7899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1C547E1-210E-B216-47F7-2EEAD0D0FE14}"/>
              </a:ext>
            </a:extLst>
          </p:cNvPr>
          <p:cNvSpPr/>
          <p:nvPr/>
        </p:nvSpPr>
        <p:spPr>
          <a:xfrm>
            <a:off x="4705985" y="3653790"/>
            <a:ext cx="2680335" cy="194627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171450" indent="-171450">
              <a:buFont typeface="맑은 고딕"/>
              <a:buChar char="-"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Reports excluded (n = 21):</a:t>
            </a:r>
          </a:p>
          <a:p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Ineligible study design (n = 7)</a:t>
            </a:r>
          </a:p>
          <a:p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Retracted article (n = 1)</a:t>
            </a:r>
          </a:p>
          <a:p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Full text unavailable (n = 5)</a:t>
            </a:r>
          </a:p>
          <a:p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Ineligible population (n = 1)</a:t>
            </a:r>
          </a:p>
          <a:p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Did not report the outcome of interest (n = 7)</a:t>
            </a:r>
            <a:endParaRPr lang="en-US" altLang="ko-KR" sz="120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07BF89E-2F63-49B3-887A-D9BCECA83DFE}"/>
              </a:ext>
            </a:extLst>
          </p:cNvPr>
          <p:cNvSpPr/>
          <p:nvPr/>
        </p:nvSpPr>
        <p:spPr>
          <a:xfrm>
            <a:off x="7561580" y="3653790"/>
            <a:ext cx="2167255" cy="5822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>
              <a:buFontTx/>
              <a:buNone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- Reports assessed for eligibility (n=0)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D5B9060-09CF-6922-D5BE-7E37507C7571}"/>
              </a:ext>
            </a:extLst>
          </p:cNvPr>
          <p:cNvCxnSpPr>
            <a:cxnSpLocks/>
          </p:cNvCxnSpPr>
          <p:nvPr/>
        </p:nvCxnSpPr>
        <p:spPr>
          <a:xfrm>
            <a:off x="9728835" y="3959385"/>
            <a:ext cx="7899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F667790-A60E-A018-534E-A89C20F748A8}"/>
              </a:ext>
            </a:extLst>
          </p:cNvPr>
          <p:cNvSpPr/>
          <p:nvPr/>
        </p:nvSpPr>
        <p:spPr>
          <a:xfrm>
            <a:off x="10500995" y="3644216"/>
            <a:ext cx="1646555" cy="5880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171450" indent="-171450">
              <a:buFont typeface="맑은 고딕"/>
              <a:buChar char="-"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Reports excluded</a:t>
            </a:r>
          </a:p>
          <a:p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     (n=0)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EDFD2CBB-144B-5B52-F199-7014CB3827C8}"/>
              </a:ext>
            </a:extLst>
          </p:cNvPr>
          <p:cNvCxnSpPr>
            <a:cxnSpLocks/>
            <a:stCxn id="33" idx="2"/>
            <a:endCxn id="3" idx="0"/>
          </p:cNvCxnSpPr>
          <p:nvPr/>
        </p:nvCxnSpPr>
        <p:spPr>
          <a:xfrm>
            <a:off x="2437130" y="4549140"/>
            <a:ext cx="635" cy="480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4E86BB-461F-1A1B-222A-01F4429C00B4}"/>
              </a:ext>
            </a:extLst>
          </p:cNvPr>
          <p:cNvSpPr/>
          <p:nvPr/>
        </p:nvSpPr>
        <p:spPr>
          <a:xfrm>
            <a:off x="967105" y="5830570"/>
            <a:ext cx="2940685" cy="8115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171450" indent="-171450">
              <a:buFont typeface="맑은 고딕"/>
              <a:buChar char="-"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Reports included for quantitative analysis (n=20)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A61C229-329F-314B-870F-7BEF157084F4}"/>
              </a:ext>
            </a:extLst>
          </p:cNvPr>
          <p:cNvCxnSpPr>
            <a:cxnSpLocks/>
          </p:cNvCxnSpPr>
          <p:nvPr/>
        </p:nvCxnSpPr>
        <p:spPr>
          <a:xfrm>
            <a:off x="8628380" y="3446780"/>
            <a:ext cx="0" cy="2070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91F09B-EBA4-BCA0-383A-03844AEA9CEB}"/>
              </a:ext>
            </a:extLst>
          </p:cNvPr>
          <p:cNvSpPr/>
          <p:nvPr/>
        </p:nvSpPr>
        <p:spPr>
          <a:xfrm>
            <a:off x="944880" y="5029834"/>
            <a:ext cx="2985770" cy="5702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171450" indent="-171450">
              <a:buFont typeface="맑은 고딕"/>
              <a:buChar char="-"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Reports included for quantitative analysis</a:t>
            </a:r>
          </a:p>
          <a:p>
            <a:pPr marL="171450" indent="-171450">
              <a:buFont typeface="맑은 고딕"/>
              <a:buChar char="-"/>
            </a:pPr>
            <a:r>
              <a:rPr lang="en-US" altLang="ko-KR" sz="1200">
                <a:solidFill>
                  <a:schemeClr val="tx1"/>
                </a:solidFill>
                <a:latin typeface="Times New Roman" charset="0"/>
                <a:ea typeface="맑은 고딕" charset="0"/>
                <a:cs typeface="Times New Roman" charset="0"/>
              </a:rPr>
              <a:t>(n=20)</a:t>
            </a:r>
            <a:endParaRPr lang="ko-KR" altLang="en-US" sz="1200">
              <a:solidFill>
                <a:schemeClr val="tx1"/>
              </a:solidFill>
              <a:latin typeface="Times New Roman" charset="0"/>
              <a:ea typeface="맑은 고딕" charset="0"/>
              <a:cs typeface="Times New Roman" charset="0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325FDCF-0B8E-1E47-9E01-FDCDAC4151EA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2437448" y="5600065"/>
            <a:ext cx="0" cy="2305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DC4EB1E9-A52C-C4D8-25BF-532DB9BF7B83}"/>
              </a:ext>
            </a:extLst>
          </p:cNvPr>
          <p:cNvCxnSpPr>
            <a:cxnSpLocks/>
            <a:stCxn id="10" idx="2"/>
            <a:endCxn id="33" idx="0"/>
          </p:cNvCxnSpPr>
          <p:nvPr/>
        </p:nvCxnSpPr>
        <p:spPr>
          <a:xfrm>
            <a:off x="2437130" y="3447415"/>
            <a:ext cx="0" cy="213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671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Pages>1</Pages>
  <Words>263</Words>
  <Characters>0</Characters>
  <Application>Microsoft Office PowerPoint</Application>
  <DocSecurity>0</DocSecurity>
  <PresentationFormat>와이드스크린</PresentationFormat>
  <Lines>0</Lines>
  <Paragraphs>37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Times New Roman</vt:lpstr>
      <vt:lpstr>Office 테마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oem 2</dc:creator>
  <cp:lastModifiedBy>kim kihun</cp:lastModifiedBy>
  <cp:revision>38</cp:revision>
  <dcterms:modified xsi:type="dcterms:W3CDTF">2026-05-06T03:00:04Z</dcterms:modified>
  <cp:version>10.105.234.53029</cp:version>
</cp:coreProperties>
</file>